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9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BLUESTOCK MUTUAL FUND ANALYTICS</a:t>
            </a:r>
          </a:p>
          <a:p>
            <a:pPr algn="ctr">
              <a:spcAft>
                <a:spcPts val="1000"/>
              </a:spcAft>
              <a:defRPr sz="2400" b="0">
                <a:solidFill>
                  <a:srgbClr val="FFF3CD"/>
                </a:solidFill>
              </a:defRPr>
            </a:pPr>
            <a:r>
              <a:t>End-to-End Data Science Capstone Project</a:t>
            </a:r>
          </a:p>
          <a:p>
            <a:pPr algn="ctr">
              <a:spcAft>
                <a:spcPts val="1000"/>
              </a:spcAft>
              <a:defRPr sz="1800" b="0">
                <a:solidFill>
                  <a:srgbClr val="FFFFFF"/>
                </a:solidFill>
              </a:defRPr>
            </a:pPr>
            <a:r>
              <a:t>Comprehensive Analysis of 40 Fund Schemes | 1M+ Investor Transactions | 4 Years Data</a:t>
            </a:r>
          </a:p>
          <a:p>
            <a:pPr algn="ctr">
              <a:spcAft>
                <a:spcPts val="1000"/>
              </a:spcAft>
              <a:defRPr sz="1200" b="0">
                <a:solidFill>
                  <a:srgbClr val="FFFFFF"/>
                </a:solidFill>
              </a:defRPr>
            </a:pPr>
          </a:p>
          <a:p>
            <a:pPr algn="ctr"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Capstone Project Team</a:t>
            </a:r>
          </a:p>
          <a:p>
            <a:pPr algn="ctr">
              <a:spcAft>
                <a:spcPts val="1000"/>
              </a:spcAft>
              <a:defRPr sz="1600" b="0">
                <a:solidFill>
                  <a:srgbClr val="FFFFFF"/>
                </a:solidFill>
              </a:defRPr>
            </a:pPr>
            <a:r>
              <a:t>Complete Pipeline: Day 1-7 Deliverables</a:t>
            </a:r>
          </a:p>
          <a:p>
            <a:pPr algn="ctr">
              <a:spcAft>
                <a:spcPts val="1000"/>
              </a:spcAft>
              <a:defRPr sz="1600" b="0">
                <a:solidFill>
                  <a:srgbClr val="CCDDEE"/>
                </a:solidFill>
              </a:defRPr>
            </a:pPr>
            <a: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E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Problem Statement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5B3A"/>
                </a:solidFill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With 40+ mutual fund schemes and 1M+ investor transactions, fund houses and investors need data-driven insights for: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Fund selection across multiple risk and return dimensions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Understanding investor behavior patterns and retention risks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Portfolio optimization and sector concentration monitoring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Risk assessment using sophisticated metrics (VaR, CVaR, alpha-beta)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5B3A"/>
                </a:solidFill>
              </a:defRPr>
            </a:pPr>
            <a:r>
              <a:t>Project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2044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Build complete ETL pipeline for data ingestion, cleaning, and validation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Compute comprehensive performance metrics (Sharpe, Sortino, alpha-beta)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Develop interactive dashboards for stakeholder visualization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Analyze investor behavior and identify retention risks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Provide data-driven fund recommendations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Create actionable insights for multiple stakeholders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943600"/>
            <a:ext cx="11247120" cy="640080"/>
          </a:xfrm>
          <a:prstGeom prst="rect">
            <a:avLst/>
          </a:prstGeom>
          <a:solidFill>
            <a:srgbClr val="E8F4F8"/>
          </a:solidFill>
          <a:ln>
            <a:solidFill>
              <a:srgbClr val="00A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Expected Outcome: Production-ready analytics platform serving fund managers, investors, and regulators.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E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Data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5B3A"/>
                </a:solidFill>
              </a:defRPr>
            </a:pPr>
            <a:r>
              <a:t>Input Datasets (10 CSV Files)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08760"/>
            <a:ext cx="2651760" cy="1005840"/>
          </a:xfrm>
          <a:prstGeom prst="rect">
            <a:avLst/>
          </a:prstGeom>
          <a:solidFill>
            <a:srgbClr val="F0F0F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E4D92"/>
                </a:solidFill>
              </a:defRPr>
            </a:pPr>
            <a:r>
              <a:t>40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Fund Schemes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0" y="1508760"/>
            <a:ext cx="2651760" cy="1005840"/>
          </a:xfrm>
          <a:prstGeom prst="rect">
            <a:avLst/>
          </a:prstGeom>
          <a:solidFill>
            <a:srgbClr val="F0F0F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E4D92"/>
                </a:solidFill>
              </a:defRPr>
            </a:pPr>
            <a:r>
              <a:t>252K+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NAV Records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508760"/>
            <a:ext cx="2651760" cy="1005840"/>
          </a:xfrm>
          <a:prstGeom prst="rect">
            <a:avLst/>
          </a:prstGeom>
          <a:solidFill>
            <a:srgbClr val="F0F0F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E4D92"/>
                </a:solidFill>
              </a:defRPr>
            </a:pPr>
            <a:r>
              <a:t>1M+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Transactions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0" y="1508760"/>
            <a:ext cx="2651760" cy="1005840"/>
          </a:xfrm>
          <a:prstGeom prst="rect">
            <a:avLst/>
          </a:prstGeom>
          <a:solidFill>
            <a:srgbClr val="F0F0F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E4D92"/>
                </a:solidFill>
              </a:defRPr>
            </a:pPr>
            <a:r>
              <a:t>2K+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Holdings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5B3A"/>
                </a:solidFill>
              </a:defRPr>
            </a:pPr>
            <a:r>
              <a:t>Data Pipeline Stages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63240"/>
            <a:ext cx="1691640" cy="822960"/>
          </a:xfrm>
          <a:prstGeom prst="rect">
            <a:avLst/>
          </a:prstGeom>
          <a:solidFill>
            <a:srgbClr val="E8F4F8"/>
          </a:solidFill>
          <a:ln>
            <a:solidFill>
              <a:srgbClr val="00A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E4D92"/>
                </a:solidFill>
              </a:defRPr>
            </a:pPr>
            <a:r>
              <a:t>Day 1</a:t>
            </a:r>
          </a:p>
          <a:p>
            <a:pPr algn="ctr">
              <a:defRPr sz="1200" b="1">
                <a:solidFill>
                  <a:srgbClr val="0E4D92"/>
                </a:solidFill>
              </a:defRPr>
            </a:pPr>
            <a:r>
              <a:t>Ingestion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3063240"/>
            <a:ext cx="1691640" cy="822960"/>
          </a:xfrm>
          <a:prstGeom prst="rect">
            <a:avLst/>
          </a:prstGeom>
          <a:solidFill>
            <a:srgbClr val="E8F4F8"/>
          </a:solidFill>
          <a:ln>
            <a:solidFill>
              <a:srgbClr val="00A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E4D92"/>
                </a:solidFill>
              </a:defRPr>
            </a:pPr>
            <a:r>
              <a:t>Day 2</a:t>
            </a:r>
          </a:p>
          <a:p>
            <a:pPr algn="ctr">
              <a:defRPr sz="1200" b="1">
                <a:solidFill>
                  <a:srgbClr val="0E4D92"/>
                </a:solidFill>
              </a:defRPr>
            </a:pPr>
            <a:r>
              <a:t>Cleaning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3063240"/>
            <a:ext cx="1691640" cy="822960"/>
          </a:xfrm>
          <a:prstGeom prst="rect">
            <a:avLst/>
          </a:prstGeom>
          <a:solidFill>
            <a:srgbClr val="E8F4F8"/>
          </a:solidFill>
          <a:ln>
            <a:solidFill>
              <a:srgbClr val="00A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E4D92"/>
                </a:solidFill>
              </a:defRPr>
            </a:pPr>
            <a:r>
              <a:t>Day 3</a:t>
            </a:r>
          </a:p>
          <a:p>
            <a:pPr algn="ctr">
              <a:defRPr sz="1200" b="1">
                <a:solidFill>
                  <a:srgbClr val="0E4D92"/>
                </a:solidFill>
              </a:defRPr>
            </a:pPr>
            <a:r>
              <a:t>EDA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59" y="3063240"/>
            <a:ext cx="1691640" cy="822960"/>
          </a:xfrm>
          <a:prstGeom prst="rect">
            <a:avLst/>
          </a:prstGeom>
          <a:solidFill>
            <a:srgbClr val="E8F4F8"/>
          </a:solidFill>
          <a:ln>
            <a:solidFill>
              <a:srgbClr val="00A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E4D92"/>
                </a:solidFill>
              </a:defRPr>
            </a:pPr>
            <a:r>
              <a:t>Day 4</a:t>
            </a:r>
          </a:p>
          <a:p>
            <a:pPr algn="ctr">
              <a:defRPr sz="1200" b="1">
                <a:solidFill>
                  <a:srgbClr val="0E4D92"/>
                </a:solidFill>
              </a:defRPr>
            </a:pPr>
            <a:r>
              <a:t>Performance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3063240"/>
            <a:ext cx="1691640" cy="822960"/>
          </a:xfrm>
          <a:prstGeom prst="rect">
            <a:avLst/>
          </a:prstGeom>
          <a:solidFill>
            <a:srgbClr val="E8F4F8"/>
          </a:solidFill>
          <a:ln>
            <a:solidFill>
              <a:srgbClr val="00A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E4D92"/>
                </a:solidFill>
              </a:defRPr>
            </a:pPr>
            <a:r>
              <a:t>Day 5</a:t>
            </a:r>
          </a:p>
          <a:p>
            <a:pPr algn="ctr">
              <a:defRPr sz="1200" b="1">
                <a:solidFill>
                  <a:srgbClr val="0E4D92"/>
                </a:solidFill>
              </a:defRPr>
            </a:pPr>
            <a:r>
              <a:t>Dashboard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29800" y="3063240"/>
            <a:ext cx="1691640" cy="822960"/>
          </a:xfrm>
          <a:prstGeom prst="rect">
            <a:avLst/>
          </a:prstGeom>
          <a:solidFill>
            <a:srgbClr val="E8F4F8"/>
          </a:solidFill>
          <a:ln>
            <a:solidFill>
              <a:srgbClr val="00A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E4D92"/>
                </a:solidFill>
              </a:defRPr>
            </a:pPr>
            <a:r>
              <a:t>Day 6</a:t>
            </a:r>
          </a:p>
          <a:p>
            <a:pPr algn="ctr">
              <a:defRPr sz="1200" b="1">
                <a:solidFill>
                  <a:srgbClr val="0E4D92"/>
                </a:solidFill>
              </a:defRPr>
            </a:pPr>
            <a:r>
              <a:t>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5B3A"/>
                </a:solidFill>
              </a:defRPr>
            </a:pPr>
            <a:r>
              <a:t>Technology 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3484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Languages: Python 3.8+  |  Databases: SQLite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Data Processing: Pandas, NumPy, SciPy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Visualization: Plotly, Matplotlib, Seaborn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Notebooks: Jupyter Lab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E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5B3A"/>
                </a:solidFill>
              </a:defRPr>
            </a:pPr>
            <a:r>
              <a:t>End-to-End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Master Orchestrator: run_pipeline.py executes all 6 stages or runs individual stages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python run_pipeline.py  →  Run full pipeline (Day 1-6)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python run_pipeline.py --stage day4  →  Run specific stage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python run_pipeline.py --list  →  List all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5B3A"/>
                </a:solidFill>
              </a:defRPr>
            </a:pPr>
            <a:r>
              <a:t>Directory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3756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data/raw/  →  Original 10 CSV datasets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data/processed/  →  Cleaned datasets (output)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src/  →  Python pipeline modules + orchestrator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dashboard/  →  Interactive HTML dashboards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notebooks/  →  Jupyter analysis notebooks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reports/  →  Daily summary reports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sql/  →  Database schema &amp; queries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212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5B3A"/>
                </a:solidFill>
              </a:defRPr>
            </a:pPr>
            <a:r>
              <a:t>Output Artifacts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CSV Reports: fund_scorecard.csv, var_cvar_report.csv, cohort_analysis.csv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Database: bluestock_mf.db (SQLite with normalized schema)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Dashboards: 4-page interactive dashboard with 15+ visualizations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Documentation: Comprehensive README + final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E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EDA Highlights — Market Trends &amp;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2023 Bull Run: All 40 funds appreciated 20-35% with strong inflows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2024 Correction: Market correction resulted in 8-12% peak-to-trough declines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2025 Stabilization: Recovery phase with stable growth trajectory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514600"/>
            <a:ext cx="2651760" cy="1005840"/>
          </a:xfrm>
          <a:prstGeom prst="rect">
            <a:avLst/>
          </a:prstGeom>
          <a:solidFill>
            <a:srgbClr val="F0F0F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E4D92"/>
                </a:solidFill>
              </a:defRPr>
            </a:pPr>
            <a:r>
              <a:t>₹2M+ Cr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Total Industry AUM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0" y="2514600"/>
            <a:ext cx="2651760" cy="1005840"/>
          </a:xfrm>
          <a:prstGeom prst="rect">
            <a:avLst/>
          </a:prstGeom>
          <a:solidFill>
            <a:srgbClr val="F0F0F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E4D92"/>
                </a:solidFill>
              </a:defRPr>
            </a:pPr>
            <a:r>
              <a:t>14.5%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Average CAGR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2514600"/>
            <a:ext cx="2651760" cy="1005840"/>
          </a:xfrm>
          <a:prstGeom prst="rect">
            <a:avLst/>
          </a:prstGeom>
          <a:solidFill>
            <a:srgbClr val="F0F0F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E4D92"/>
                </a:solidFill>
              </a:defRPr>
            </a:pPr>
            <a:r>
              <a:t>8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Top AMC Schemes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0" y="2514600"/>
            <a:ext cx="2651760" cy="1005840"/>
          </a:xfrm>
          <a:prstGeom prst="rect">
            <a:avLst/>
          </a:prstGeom>
          <a:solidFill>
            <a:srgbClr val="F0F0F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E4D92"/>
                </a:solidFill>
              </a:defRPr>
            </a:pPr>
            <a:r>
              <a:t>₹1.2K Cr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Monthly SIP Inflows</a:t>
            </a:r>
          </a:p>
        </p:txBody>
      </p:sp>
      <p:pic>
        <p:nvPicPr>
          <p:cNvPr id="8" name="Picture 7" descr="page1_aum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11880"/>
            <a:ext cx="5669280" cy="2926080"/>
          </a:xfrm>
          <a:prstGeom prst="rect">
            <a:avLst/>
          </a:prstGeom>
        </p:spPr>
      </p:pic>
      <p:pic>
        <p:nvPicPr>
          <p:cNvPr id="9" name="Picture 8" descr="page4_sip_nifty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611880"/>
            <a:ext cx="548640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E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EDA Highlights — Investor Demographics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651760" cy="1005840"/>
          </a:xfrm>
          <a:prstGeom prst="rect">
            <a:avLst/>
          </a:prstGeom>
          <a:solidFill>
            <a:srgbClr val="F0F0F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E4D92"/>
                </a:solidFill>
              </a:defRPr>
            </a:pPr>
            <a:r>
              <a:t>65%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SIP Dominance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0" y="1097280"/>
            <a:ext cx="2651760" cy="1005840"/>
          </a:xfrm>
          <a:prstGeom prst="rect">
            <a:avLst/>
          </a:prstGeom>
          <a:solidFill>
            <a:srgbClr val="F0F0F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E4D92"/>
                </a:solidFill>
              </a:defRPr>
            </a:pPr>
            <a:r>
              <a:t>40%+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Metro Concentration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0" y="1097280"/>
            <a:ext cx="2651760" cy="1005840"/>
          </a:xfrm>
          <a:prstGeom prst="rect">
            <a:avLst/>
          </a:prstGeom>
          <a:solidFill>
            <a:srgbClr val="F0F0F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E4D92"/>
                </a:solidFill>
              </a:defRPr>
            </a:pPr>
            <a:r>
              <a:t>25-45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Peak Age Group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0" y="1097280"/>
            <a:ext cx="2651760" cy="1005840"/>
          </a:xfrm>
          <a:prstGeom prst="rect">
            <a:avLst/>
          </a:prstGeom>
          <a:solidFill>
            <a:srgbClr val="F0F0F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E4D92"/>
                </a:solidFill>
              </a:defRPr>
            </a:pPr>
            <a:r>
              <a:t>98%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KYC Compliant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Tier-1 Cities: 60% of inflows (Delhi, Mumbai, Bangalore dominate)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Tier-2 Cities: 25% growth opportunity in emerging metros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Tier-3 &amp; Beyond: 15% untapped potential for expansion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Category Mix: Large Cap (18%) | Mid Cap (22%) | Small Cap (8%) | Balanced (28%) | Debt (24%)</a:t>
            </a:r>
          </a:p>
        </p:txBody>
      </p:sp>
      <p:pic>
        <p:nvPicPr>
          <p:cNvPr id="8" name="Picture 7" descr="page3_transaction_type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566160"/>
            <a:ext cx="3657600" cy="3017520"/>
          </a:xfrm>
          <a:prstGeom prst="rect">
            <a:avLst/>
          </a:prstGeom>
        </p:spPr>
      </p:pic>
      <p:pic>
        <p:nvPicPr>
          <p:cNvPr id="9" name="Picture 8" descr="page3_amount_by_st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3566160"/>
            <a:ext cx="3657600" cy="3017520"/>
          </a:xfrm>
          <a:prstGeom prst="rect">
            <a:avLst/>
          </a:prstGeom>
        </p:spPr>
      </p:pic>
      <p:pic>
        <p:nvPicPr>
          <p:cNvPr id="10" name="Picture 9" descr="page3_avg_sip_by_age_gro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3566160"/>
            <a:ext cx="365760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E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Performance Metrics — Fund Rankings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Returns: 1yr, 3yr, 5yr CAGR  |  Risk-Adjusted: Sharpe, Sortino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Market Sensitivity: Alpha &amp; Beta vs NIFTY100  |  Downside Risk: Max Drawdown, VaR, CVaR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1. HDFC Top 100 Direct — Score: 82.5 | 3yr CAGR: 19.2% | Sharpe: 1.62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2. SBI Bluechip — Score: 81.2 | 3yr CAGR: 18.8% | Sharpe: 1.58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3. ICICI Bluechip — Score: 79.8 | 3yr CAGR: 18.5% | Sharpe: 1.55</a:t>
            </a:r>
          </a:p>
        </p:txBody>
      </p:sp>
      <p:pic>
        <p:nvPicPr>
          <p:cNvPr id="4" name="Picture 3" descr="page2_return_vs_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017520"/>
            <a:ext cx="5669280" cy="3474720"/>
          </a:xfrm>
          <a:prstGeom prst="rect">
            <a:avLst/>
          </a:prstGeom>
        </p:spPr>
      </p:pic>
      <p:pic>
        <p:nvPicPr>
          <p:cNvPr id="5" name="Picture 4" descr="page2_nav_vs_bench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017520"/>
            <a:ext cx="54864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E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Performance Metrics — Risk Analysis &amp; Scorecard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43000"/>
            <a:ext cx="2103120" cy="777240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E4D92"/>
                </a:solidFill>
              </a:defRPr>
            </a:pPr>
            <a:r>
              <a:t>30%</a:t>
            </a:r>
          </a:p>
          <a:p>
            <a:pPr algn="ctr">
              <a:defRPr sz="1000"/>
            </a:pPr>
            <a:r>
              <a:t>3yr CAGR</a:t>
            </a:r>
          </a:p>
        </p:txBody>
      </p:sp>
      <p:sp>
        <p:nvSpPr>
          <p:cNvPr id="4" name="Rectangle 3"/>
          <p:cNvSpPr/>
          <p:nvPr/>
        </p:nvSpPr>
        <p:spPr>
          <a:xfrm>
            <a:off x="2651760" y="1143000"/>
            <a:ext cx="2103120" cy="777240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E4D92"/>
                </a:solidFill>
              </a:defRPr>
            </a:pPr>
            <a:r>
              <a:t>25%</a:t>
            </a:r>
          </a:p>
          <a:p>
            <a:pPr algn="ctr">
              <a:defRPr sz="1000"/>
            </a:pPr>
            <a:r>
              <a:t>Sharpe Ratio</a:t>
            </a:r>
          </a:p>
        </p:txBody>
      </p:sp>
      <p:sp>
        <p:nvSpPr>
          <p:cNvPr id="5" name="Rectangle 4"/>
          <p:cNvSpPr/>
          <p:nvPr/>
        </p:nvSpPr>
        <p:spPr>
          <a:xfrm>
            <a:off x="4937760" y="1143000"/>
            <a:ext cx="2103120" cy="777240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E4D92"/>
                </a:solidFill>
              </a:defRPr>
            </a:pPr>
            <a:r>
              <a:t>20%</a:t>
            </a:r>
          </a:p>
          <a:p>
            <a:pPr algn="ctr">
              <a:defRPr sz="1000"/>
            </a:pPr>
            <a:r>
              <a:t>Alpha</a:t>
            </a:r>
          </a:p>
        </p:txBody>
      </p:sp>
      <p:sp>
        <p:nvSpPr>
          <p:cNvPr id="6" name="Rectangle 5"/>
          <p:cNvSpPr/>
          <p:nvPr/>
        </p:nvSpPr>
        <p:spPr>
          <a:xfrm>
            <a:off x="7223760" y="1143000"/>
            <a:ext cx="2103120" cy="777240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E4D92"/>
                </a:solidFill>
              </a:defRPr>
            </a:pPr>
            <a:r>
              <a:t>15%</a:t>
            </a:r>
          </a:p>
          <a:p>
            <a:pPr algn="ctr">
              <a:defRPr sz="1000"/>
            </a:pPr>
            <a:r>
              <a:t>Expense Ratio</a:t>
            </a:r>
          </a:p>
        </p:txBody>
      </p:sp>
      <p:sp>
        <p:nvSpPr>
          <p:cNvPr id="7" name="Rectangle 6"/>
          <p:cNvSpPr/>
          <p:nvPr/>
        </p:nvSpPr>
        <p:spPr>
          <a:xfrm>
            <a:off x="9509760" y="1143000"/>
            <a:ext cx="2103120" cy="777240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E4D92"/>
                </a:solidFill>
              </a:defRPr>
            </a:pPr>
            <a:r>
              <a:t>10%</a:t>
            </a:r>
          </a:p>
          <a:p>
            <a:pPr algn="ctr">
              <a:defRPr sz="1000"/>
            </a:pPr>
            <a:r>
              <a:t>Max Drawdown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03120"/>
            <a:ext cx="2651760" cy="1005840"/>
          </a:xfrm>
          <a:prstGeom prst="rect">
            <a:avLst/>
          </a:prstGeom>
          <a:solidFill>
            <a:srgbClr val="F0F0F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E4D92"/>
                </a:solidFill>
              </a:defRPr>
            </a:pPr>
            <a:r>
              <a:t>12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High Sharpe (&gt;1.5)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2103120"/>
            <a:ext cx="2651760" cy="1005840"/>
          </a:xfrm>
          <a:prstGeom prst="rect">
            <a:avLst/>
          </a:prstGeom>
          <a:solidFill>
            <a:srgbClr val="F0F0F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E4D92"/>
                </a:solidFill>
              </a:defRPr>
            </a:pPr>
            <a:r>
              <a:t>28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Positive Alpha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2103120"/>
            <a:ext cx="2651760" cy="1005840"/>
          </a:xfrm>
          <a:prstGeom prst="rect">
            <a:avLst/>
          </a:prstGeom>
          <a:solidFill>
            <a:srgbClr val="F0F0F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E4D92"/>
                </a:solidFill>
              </a:defRPr>
            </a:pPr>
            <a:r>
              <a:t>8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Low Vol (&lt;12%)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2103120"/>
            <a:ext cx="2651760" cy="1005840"/>
          </a:xfrm>
          <a:prstGeom prst="rect">
            <a:avLst/>
          </a:prstGeom>
          <a:solidFill>
            <a:srgbClr val="F0F0F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E4D92"/>
                </a:solidFill>
              </a:defRPr>
            </a:pPr>
            <a:r>
              <a:t>70%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Beat NIFTY100</a:t>
            </a:r>
          </a:p>
        </p:txBody>
      </p:sp>
      <p:pic>
        <p:nvPicPr>
          <p:cNvPr id="12" name="Picture 11" descr="page2_scorecard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46120"/>
            <a:ext cx="1124712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E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Dashboard Screenshots — Page 1 &amp;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Page 1: Industry Overview — KPIs, AUM trend, AMC rankings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Page 2: Fund Performance — Risk-return scatter, scorecard table, NAV vs benchmark</a:t>
            </a:r>
          </a:p>
        </p:txBody>
      </p:sp>
      <p:pic>
        <p:nvPicPr>
          <p:cNvPr id="4" name="Picture 3" descr="c__Users_rajve_AppData_Roaming_Cursor_User_workspaceStorage_9f1df91e425e0dd44edecb4f1235dc8d_images_image-6eda75eb-c58e-481e-8fd7-9f24c7f37f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91640"/>
            <a:ext cx="5669280" cy="4846320"/>
          </a:xfrm>
          <a:prstGeom prst="rect">
            <a:avLst/>
          </a:prstGeom>
        </p:spPr>
      </p:pic>
      <p:pic>
        <p:nvPicPr>
          <p:cNvPr id="5" name="Picture 4" descr="c__Users_rajve_AppData_Roaming_Cursor_User_workspaceStorage_9f1df91e425e0dd44edecb4f1235dc8d_images_image-4da48821-bcf0-4f85-81f7-b68bedca514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91640"/>
            <a:ext cx="566928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E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Dashboard Screenshots — Page 3 &amp;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Page 3: Investor Demographics — Geographic heat map, age groups, transaction types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Page 4: Category &amp; Sector Trends — SIP inflows, NIFTY50 trend, category heatmap</a:t>
            </a:r>
          </a:p>
        </p:txBody>
      </p:sp>
      <p:pic>
        <p:nvPicPr>
          <p:cNvPr id="4" name="Picture 3" descr="c__Users_rajve_AppData_Roaming_Cursor_User_workspaceStorage_9f1df91e425e0dd44edecb4f1235dc8d_images_image-3fc3a074-782a-4544-b4ae-d05cfb1396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91640"/>
            <a:ext cx="5669280" cy="4846320"/>
          </a:xfrm>
          <a:prstGeom prst="rect">
            <a:avLst/>
          </a:prstGeom>
        </p:spPr>
      </p:pic>
      <p:pic>
        <p:nvPicPr>
          <p:cNvPr id="5" name="Picture 4" descr="c__Users_rajve_AppData_Roaming_Cursor_User_workspaceStorage_9f1df91e425e0dd44edecb4f1235dc8d_images_image-f2cc7489-21c7-4fe6-a7ea-6836a236618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91640"/>
            <a:ext cx="566928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E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Key Findings &amp; Strategic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5B3A"/>
                </a:solidFill>
              </a:defRPr>
            </a:pPr>
            <a:r>
              <a:t>Critical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Fund Selection: Top 12 funds show Sharpe ratios &gt;1.5; composite scoring outperforms single-metric ranking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Risk Profile: Average VaR 95% = -2.8% daily; CVaR (tail risk) = -4.1%; max drawdown 8-22%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Investor Behavior: SIP dominance (65%); metro concentration (40%); peak age 25-45; excellent KYC compliance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SIP Continuity Risk: 8% of SIPs show &gt;35-day gaps; early cohorts (pre-2022) show 85% continuity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Sector Concentration: Moderate HHI (avg 0.18); IT/Finance/FMCG dominant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5B3A"/>
                </a:solidFill>
              </a:defRPr>
            </a:pPr>
            <a:r>
              <a:t>Strategic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519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For Fund Managers: Engage at-risk SIPs proactively; develop Tier-2/3 distribution; optimize costs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For Investors: Use composite scorecard; diversify across categories/sectors; maintain SIP discipline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For Regulators: Monitor concentration risk (HHI); enhance drawdown disclosures; standardize reporting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9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4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spcAft>
                <a:spcPts val="600"/>
              </a:spcAft>
              <a:defRPr sz="2200" b="0">
                <a:solidFill>
                  <a:srgbClr val="FFF3CD"/>
                </a:solidFill>
              </a:defRPr>
            </a:pPr>
            <a:r>
              <a:t>Questions &amp; Discussion</a:t>
            </a:r>
          </a:p>
          <a:p>
            <a:pPr algn="ctr">
              <a:spcAft>
                <a:spcPts val="600"/>
              </a:spcAft>
              <a:defRPr sz="1000" b="0">
                <a:solidFill>
                  <a:srgbClr val="FFFFFF"/>
                </a:solidFill>
              </a:defRPr>
            </a:pPr>
          </a:p>
          <a:p>
            <a:pPr algn="ctr">
              <a:spcAft>
                <a:spcPts val="600"/>
              </a:spcAft>
              <a:defRPr sz="1800" b="1">
                <a:solidFill>
                  <a:srgbClr val="FFFFFF"/>
                </a:solidFill>
              </a:defRPr>
            </a:pPr>
            <a:r>
              <a:t>Project Summary</a:t>
            </a:r>
          </a:p>
          <a:p>
            <a:pPr algn="ctr"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Complete 7-day capstone execution (Day 1-7 deliverables)</a:t>
            </a:r>
          </a:p>
          <a:p>
            <a:pPr algn="ctr"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ETL pipeline + Analytics + Interactive 4-page dashboard</a:t>
            </a:r>
          </a:p>
          <a:p>
            <a:pPr algn="ctr"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40 fund schemes, 1M+ transactions, 252K+ NAV records analyzed</a:t>
            </a:r>
          </a:p>
          <a:p>
            <a:pPr algn="ctr"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Production-ready codebase with comprehensive documentation</a:t>
            </a:r>
          </a:p>
          <a:p>
            <a:pPr algn="ctr">
              <a:spcAft>
                <a:spcPts val="600"/>
              </a:spcAft>
              <a:defRPr sz="1000" b="0">
                <a:solidFill>
                  <a:srgbClr val="FFFFFF"/>
                </a:solidFill>
              </a:defRPr>
            </a:pPr>
          </a:p>
          <a:p>
            <a:pPr algn="ctr">
              <a:spcAft>
                <a:spcPts val="600"/>
              </a:spcAft>
              <a:defRPr sz="1400" b="0">
                <a:solidFill>
                  <a:srgbClr val="CCDDEE"/>
                </a:solidFill>
              </a:defRPr>
            </a:pPr>
            <a:r>
              <a:t>Deliverables: GitHub Repository | Final Report | README Setup Guide</a:t>
            </a:r>
          </a:p>
          <a:p>
            <a:pPr algn="ctr">
              <a:spcAft>
                <a:spcPts val="600"/>
              </a:spcAft>
              <a:defRPr sz="1200" b="0">
                <a:solidFill>
                  <a:srgbClr val="AABBCC"/>
                </a:solidFill>
              </a:defRPr>
            </a:pPr>
            <a:r>
              <a:t>Version 1.0 |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